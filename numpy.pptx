
<file path=[Content_Types].xml><?xml version="1.0" encoding="utf-8"?>
<Types xmlns="http://schemas.openxmlformats.org/package/2006/content-types">
  <Default Extension="68VbdiTZuQqnfePsArY91wHaHa" ContentType="image/jpeg"/>
  <Default Extension="7eqoHoO1aSWZI9McvkA4_gHaHa" ContentType="image/jpeg"/>
  <Default Extension="D0vu-kPT8E6Cqd0r8dM-NwHaDt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Default Extension="Z8hlCpfUlet6PXFAvddapwHaEK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0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E597-B469-4C46-B09E-3E6BA5A3980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4A10D-373F-416C-B45F-14981C1E9D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449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4A10D-373F-416C-B45F-14981C1E9DE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029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9B3F-5555-D5D3-9C59-E6D5F4F64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7386C-A8C2-0248-0DA0-6FA49FC3D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4546D-19F4-9943-1B2C-D1F50DF0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FF6EA-B1D7-01E2-6B0E-CD900AB5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3AD79-A340-B2BA-DFEF-1B45F346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12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640C-AFFC-5149-98B5-9400FD6E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9C234-50DC-24E1-15FA-4E711A80C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62011-9740-F6F3-CDAC-7C1E90D80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5A85C-90B2-C00C-A817-3995DFD4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B9F4A-D5B2-B565-B101-674EF525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70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3B62-FED4-5F9F-81BC-BB323B6F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1F6BD-EE96-77F5-54F9-5397B7FB0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45F24-75C8-EB7B-F099-B47277C30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99692-24DE-FE05-C073-5B547219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3EE39-7E6E-61BC-89AB-F8259A39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10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89733-9BFD-A543-37FF-16425015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1CDD-EFDA-460B-73B6-A040C62A8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92B8F-6C22-A913-0808-CDBDB461E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7DE5A-924A-A995-3CD5-7FA552DC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B5003-1CB1-87A3-02DF-E6F12F82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73204-EC55-6253-E6EC-ECFADDF7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579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87393-2C21-925E-4FB2-AB00BC35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B3B56-2ED3-658D-CBB4-9A9FCAE64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075E5-6DF9-D959-752E-250843DE4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FC8E1-4A28-838A-E283-35CE18476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C09DF-E572-E71A-6E73-68BDDD5B8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3FE3D-5339-CA92-BF99-0B10555D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A0184D-F6FF-9BF4-567F-792D0FA59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69367-B790-9BFA-5E0E-3B46A702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74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1D185-F516-8F9D-9D03-BDB092D4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3EE1F-B7AA-D0D7-5D75-953E91A2A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F3522-24AA-8B9B-AD10-3AB857C5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B9F9D-7E1B-0A6C-3583-363EA8E9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443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D5211-78DE-87AC-B9DB-8A71D3AD2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62F18-6AF5-E6A2-D755-EE90199E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97316-935C-BA13-1784-D566FC7C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32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412C-C03F-05F2-DCFC-37E7CCCA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74E92-4F4F-CC0B-E38F-05C3A805B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0459A-34E3-9E2B-68E1-61EB7E8C0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FC57B-E5AE-A78D-D70F-0051B23F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FA904-B1AD-53E6-03BA-D55548931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1D85E-3A59-C429-69CC-3F7413A2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83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C3F1-7D7C-17B8-1D77-E539B36E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E6754-4B04-AB7F-A419-72FB813C9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D7430-96FD-D3E4-8859-FD9129119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6F5F6-6C95-1DF1-0EA2-FC651E19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D0522-863D-113C-8321-8B49DCCC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EE88A-AE2D-52CB-80F1-FDC642CE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30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D0E9-C09B-306F-0C29-99FA2212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7B410-00AA-D40E-66F4-6D970BB14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6F4E3-480E-75BA-EA1D-799D2D13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F6DDB-31FC-7955-FA5E-E4DE8215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D3A5C-E953-9382-BFAD-CD55CBFE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53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ED347-1502-6262-5BC4-D2AB91649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D386A-7A0D-377B-1AA0-D39C0D79E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28980-919D-5B67-96A7-B464DA8A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EC528-3CB4-A016-5E32-5F003759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725D1-6799-41D4-0634-8789DED4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88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0EC4B-3032-65E4-7E7C-7A9EE3A2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DA6A4-73F7-A318-DB76-67EA163AF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54DC3-0F32-F682-D2E0-608A60E50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4957C-B593-49C5-A67F-32F9B54D587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320B2-6989-2D17-7FD4-102401ADA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5ABC-CC56-6A07-3062-3B4C9E9B0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F4D06-783F-48AA-B705-D4EEE7D302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44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7eqoHoO1aSWZI9McvkA4_gHaHa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68VbdiTZuQqnfePsArY91wHaHa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Z8hlCpfUlet6PXFAvddapwHaEK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D0vu-kPT8E6Cqd0r8dM-NwHaDt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6C9AC2-852E-51F5-5695-65C7C23AC80D}"/>
              </a:ext>
            </a:extLst>
          </p:cNvPr>
          <p:cNvSpPr txBox="1"/>
          <p:nvPr/>
        </p:nvSpPr>
        <p:spPr>
          <a:xfrm>
            <a:off x="3776816" y="538959"/>
            <a:ext cx="60371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Numpy</a:t>
            </a:r>
            <a:endParaRPr lang="en-IN" sz="8800" b="1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D6CA9F-6324-ACC8-77BE-AD3E68A06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44" y="101311"/>
            <a:ext cx="3166630" cy="23218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EC1A4B-845A-F399-EC5D-F77E2AFA5AAD}"/>
              </a:ext>
            </a:extLst>
          </p:cNvPr>
          <p:cNvSpPr txBox="1"/>
          <p:nvPr/>
        </p:nvSpPr>
        <p:spPr>
          <a:xfrm>
            <a:off x="741003" y="4621161"/>
            <a:ext cx="5438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2"/>
                </a:solidFill>
                <a:latin typeface="Arial Black" panose="020B0A04020102020204" pitchFamily="34" charset="0"/>
              </a:rPr>
              <a:t>By Rahul Bunker</a:t>
            </a:r>
          </a:p>
        </p:txBody>
      </p:sp>
    </p:spTree>
    <p:extLst>
      <p:ext uri="{BB962C8B-B14F-4D97-AF65-F5344CB8AC3E}">
        <p14:creationId xmlns:p14="http://schemas.microsoft.com/office/powerpoint/2010/main" val="137673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B1758-F4CF-A97C-9FEE-11057142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4FE8C7-440F-4CCC-352B-BDB5B19FB31D}"/>
              </a:ext>
            </a:extLst>
          </p:cNvPr>
          <p:cNvSpPr txBox="1"/>
          <p:nvPr/>
        </p:nvSpPr>
        <p:spPr>
          <a:xfrm>
            <a:off x="589070" y="827763"/>
            <a:ext cx="91448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rgbClr val="FFC000"/>
                </a:solidFill>
                <a:latin typeface="Arial Black" panose="020B0A04020102020204" pitchFamily="34" charset="0"/>
              </a:rPr>
              <a:t>What is </a:t>
            </a:r>
            <a:r>
              <a:rPr lang="en-IN" sz="60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Numpy</a:t>
            </a:r>
            <a:endParaRPr lang="en-IN" sz="6000" b="1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1309D-F782-8BD4-2E3E-E3C8E818D6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09" t="10402" r="15317" b="8181"/>
          <a:stretch>
            <a:fillRect/>
          </a:stretch>
        </p:blipFill>
        <p:spPr>
          <a:xfrm>
            <a:off x="8697190" y="519545"/>
            <a:ext cx="1517073" cy="19742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2B048C-0909-C07E-67EC-2395F3E9CBB1}"/>
              </a:ext>
            </a:extLst>
          </p:cNvPr>
          <p:cNvSpPr txBox="1"/>
          <p:nvPr/>
        </p:nvSpPr>
        <p:spPr>
          <a:xfrm>
            <a:off x="589070" y="3200400"/>
            <a:ext cx="11066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  <a:latin typeface="Arial Black" panose="020B0A04020102020204" pitchFamily="34" charset="0"/>
              </a:rPr>
              <a:t>NumPy is a Python library used for fast numerical calculations using arrays.</a:t>
            </a:r>
          </a:p>
        </p:txBody>
      </p:sp>
    </p:spTree>
    <p:extLst>
      <p:ext uri="{BB962C8B-B14F-4D97-AF65-F5344CB8AC3E}">
        <p14:creationId xmlns:p14="http://schemas.microsoft.com/office/powerpoint/2010/main" val="112567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983CC-9C47-6BAF-DE3C-CCFFC9E2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400E3E-8CE1-4194-8A9E-3915F8FC1DAC}"/>
              </a:ext>
            </a:extLst>
          </p:cNvPr>
          <p:cNvSpPr txBox="1"/>
          <p:nvPr/>
        </p:nvSpPr>
        <p:spPr>
          <a:xfrm>
            <a:off x="522143" y="267022"/>
            <a:ext cx="60942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rgbClr val="FFC000"/>
                </a:solidFill>
                <a:latin typeface="Arial Black" panose="020B0A04020102020204" pitchFamily="34" charset="0"/>
              </a:rPr>
              <a:t>Why </a:t>
            </a:r>
            <a:r>
              <a:rPr lang="en-IN" sz="60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Numpy</a:t>
            </a:r>
            <a:r>
              <a:rPr lang="en-IN" sz="6000" b="1" dirty="0">
                <a:solidFill>
                  <a:srgbClr val="FFC000"/>
                </a:solidFill>
                <a:latin typeface="Arial Black" panose="020B0A04020102020204" pitchFamily="34" charset="0"/>
              </a:rPr>
              <a:t> 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C361-4256-A69A-AB1E-49115B7A545B}"/>
              </a:ext>
            </a:extLst>
          </p:cNvPr>
          <p:cNvSpPr txBox="1"/>
          <p:nvPr/>
        </p:nvSpPr>
        <p:spPr>
          <a:xfrm>
            <a:off x="893618" y="2078182"/>
            <a:ext cx="9705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  <a:latin typeface="Arial Black" panose="020B0A04020102020204" pitchFamily="34" charset="0"/>
              </a:rPr>
              <a:t>NumPy is used to perform fast mathematical operations on arrays with less code.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A9AEFF-4379-7E05-B7FD-2DBE8666008E}"/>
              </a:ext>
            </a:extLst>
          </p:cNvPr>
          <p:cNvSpPr txBox="1"/>
          <p:nvPr/>
        </p:nvSpPr>
        <p:spPr>
          <a:xfrm>
            <a:off x="893619" y="3133214"/>
            <a:ext cx="91232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Fast calculations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(High Performance)⚡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Easy array handling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📊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Less code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✍️ </a:t>
            </a: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Better performance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AI , Machine Learning ,Data Science &amp; Data Analyst Foundation</a:t>
            </a:r>
          </a:p>
        </p:txBody>
      </p:sp>
    </p:spTree>
    <p:extLst>
      <p:ext uri="{BB962C8B-B14F-4D97-AF65-F5344CB8AC3E}">
        <p14:creationId xmlns:p14="http://schemas.microsoft.com/office/powerpoint/2010/main" val="84574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07B70-5D53-999E-E4A7-CF86902DC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2835C-B0D5-B1B3-A606-5E82BDDEA2D1}"/>
              </a:ext>
            </a:extLst>
          </p:cNvPr>
          <p:cNvSpPr txBox="1"/>
          <p:nvPr/>
        </p:nvSpPr>
        <p:spPr>
          <a:xfrm>
            <a:off x="862445" y="477982"/>
            <a:ext cx="71697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rgbClr val="FFC000"/>
                </a:solidFill>
                <a:latin typeface="Arial Black" panose="020B0A04020102020204" pitchFamily="34" charset="0"/>
              </a:rPr>
              <a:t>Array</a:t>
            </a:r>
            <a:endParaRPr lang="en-IN" sz="4800" b="1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6625A6-393B-59FE-2DAB-7B841D1D3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082" y="477982"/>
            <a:ext cx="1714500" cy="1714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6B6A28-6E80-23DE-01EF-17D5DF57ADD0}"/>
              </a:ext>
            </a:extLst>
          </p:cNvPr>
          <p:cNvSpPr txBox="1"/>
          <p:nvPr/>
        </p:nvSpPr>
        <p:spPr>
          <a:xfrm>
            <a:off x="862445" y="2682950"/>
            <a:ext cx="10216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  <a:latin typeface="Arial Black" panose="020B0A04020102020204" pitchFamily="34" charset="0"/>
              </a:rPr>
              <a:t>An array is a collection of similar data stored in one place.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26495E-1C52-9BDA-294C-CA16450D1A34}"/>
              </a:ext>
            </a:extLst>
          </p:cNvPr>
          <p:cNvSpPr txBox="1"/>
          <p:nvPr/>
        </p:nvSpPr>
        <p:spPr>
          <a:xfrm>
            <a:off x="1029176" y="3289454"/>
            <a:ext cx="9275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Array = Same Data Type + Multiple Values + Single Variable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7649DE-75D0-54F9-DE07-56D73BC3AE83}"/>
              </a:ext>
            </a:extLst>
          </p:cNvPr>
          <p:cNvSpPr txBox="1"/>
          <p:nvPr/>
        </p:nvSpPr>
        <p:spPr>
          <a:xfrm>
            <a:off x="1279394" y="4120451"/>
            <a:ext cx="77749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2"/>
                </a:solidFill>
                <a:latin typeface="Arial Black" panose="020B0A04020102020204" pitchFamily="34" charset="0"/>
              </a:rPr>
              <a:t>Example: </a:t>
            </a:r>
          </a:p>
          <a:p>
            <a:r>
              <a:rPr lang="en-IN" sz="3200" dirty="0" err="1">
                <a:solidFill>
                  <a:schemeClr val="bg2"/>
                </a:solidFill>
                <a:latin typeface="Arial Black" panose="020B0A04020102020204" pitchFamily="34" charset="0"/>
              </a:rPr>
              <a:t>arr</a:t>
            </a:r>
            <a:r>
              <a:rPr lang="en-IN" sz="3200" dirty="0">
                <a:solidFill>
                  <a:schemeClr val="bg2"/>
                </a:solidFill>
                <a:latin typeface="Arial Black" panose="020B0A04020102020204" pitchFamily="34" charset="0"/>
              </a:rPr>
              <a:t> = [10, 20, 30, 40]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189545-27E8-B732-68E0-7DF5D80C9217}"/>
              </a:ext>
            </a:extLst>
          </p:cNvPr>
          <p:cNvSpPr txBox="1"/>
          <p:nvPr/>
        </p:nvSpPr>
        <p:spPr>
          <a:xfrm>
            <a:off x="1400175" y="5294990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Same Data Type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→ Integer </a:t>
            </a: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Multiple Values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→ 10, 20, 30, 40 </a:t>
            </a: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Single Variable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→ </a:t>
            </a:r>
            <a:r>
              <a:rPr lang="en-IN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arr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58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141F2-85C5-8974-8EC9-38AA96BD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F1CD37-15B6-BE2D-EAB4-A93D4A8D6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510005"/>
              </p:ext>
            </p:extLst>
          </p:nvPr>
        </p:nvGraphicFramePr>
        <p:xfrm>
          <a:off x="838200" y="887932"/>
          <a:ext cx="10515600" cy="291715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289056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20963214"/>
                    </a:ext>
                  </a:extLst>
                </a:gridCol>
              </a:tblGrid>
              <a:tr h="583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FFC000"/>
                          </a:solidFill>
                        </a:rPr>
                        <a:t>Array</a:t>
                      </a:r>
                      <a:endParaRPr lang="en-IN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FFC000"/>
                          </a:solidFill>
                        </a:rPr>
                        <a:t>List</a:t>
                      </a:r>
                      <a:endParaRPr lang="en-IN" sz="2800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999403"/>
                  </a:ext>
                </a:extLst>
              </a:tr>
              <a:tr h="583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Stores </a:t>
                      </a:r>
                      <a:r>
                        <a:rPr lang="en-IN" b="1">
                          <a:solidFill>
                            <a:schemeClr val="bg2"/>
                          </a:solidFill>
                        </a:rPr>
                        <a:t>same data type</a:t>
                      </a:r>
                      <a:endParaRPr lang="en-IN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Stores </a:t>
                      </a:r>
                      <a:r>
                        <a:rPr lang="en-IN" b="1">
                          <a:solidFill>
                            <a:schemeClr val="bg2"/>
                          </a:solidFill>
                        </a:rPr>
                        <a:t>different data types</a:t>
                      </a:r>
                      <a:endParaRPr lang="en-IN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803339"/>
                  </a:ext>
                </a:extLst>
              </a:tr>
              <a:tr h="583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Faster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/>
                          </a:solidFill>
                        </a:rPr>
                        <a:t>Slower</a:t>
                      </a:r>
                      <a:r>
                        <a:rPr lang="en-IN">
                          <a:solidFill>
                            <a:schemeClr val="bg2"/>
                          </a:solidFill>
                        </a:rPr>
                        <a:t> than 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520749"/>
                  </a:ext>
                </a:extLst>
              </a:tr>
              <a:tr h="583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Uses </a:t>
                      </a: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less memory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Uses </a:t>
                      </a: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more memory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566177"/>
                  </a:ext>
                </a:extLst>
              </a:tr>
              <a:tr h="583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NumPy uses arrays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Python uses lists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2830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08E87E9-EAF7-18F6-ECD3-397C4FA38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35"/>
          <a:stretch>
            <a:fillRect/>
          </a:stretch>
        </p:blipFill>
        <p:spPr>
          <a:xfrm>
            <a:off x="5467274" y="4441553"/>
            <a:ext cx="4187969" cy="865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AAB40-DB58-2C5D-4166-82AEDC5F9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" t="9046" r="10547" b="-9046"/>
          <a:stretch>
            <a:fillRect/>
          </a:stretch>
        </p:blipFill>
        <p:spPr>
          <a:xfrm>
            <a:off x="344499" y="4380030"/>
            <a:ext cx="3737473" cy="139598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D8DA15-2FA1-7A52-D684-EFDB54B3C0D6}"/>
              </a:ext>
            </a:extLst>
          </p:cNvPr>
          <p:cNvCxnSpPr/>
          <p:nvPr/>
        </p:nvCxnSpPr>
        <p:spPr>
          <a:xfrm>
            <a:off x="4904509" y="446809"/>
            <a:ext cx="0" cy="549679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12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17774-2B80-E863-C156-D5C6379B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FF0FC9-F190-DD0A-8C1C-DB5A20CB9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236" y="658761"/>
            <a:ext cx="7855528" cy="479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2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A9A4A-D7E0-441A-399F-2D88267F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61ABAD-90BB-5F46-D636-59E65E74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567" y="857980"/>
            <a:ext cx="9141402" cy="514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19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7D9708-A1A3-AD12-1699-C4054133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0ED3F1-87AE-2274-C004-586D4F67D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912" y="948690"/>
            <a:ext cx="83419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7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7FB2F-BB3D-05A5-A455-4642F98E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- Inverting Matrices PowerPoint Presentation, free download - ID ...">
            <a:extLst>
              <a:ext uri="{FF2B5EF4-FFF2-40B4-BE49-F238E27FC236}">
                <a16:creationId xmlns:a16="http://schemas.microsoft.com/office/drawing/2014/main" id="{147952E5-A8DA-014E-54E9-434EA28C4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786" y="431223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07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13393-46B9-44CF-966D-66CBAD60D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AC8324-89E0-B467-51FF-E17103183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72160"/>
            <a:ext cx="8280400" cy="407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06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149</Words>
  <Application>Microsoft Office PowerPoint</Application>
  <PresentationFormat>Widescreen</PresentationFormat>
  <Paragraphs>30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Bunker</dc:creator>
  <cp:lastModifiedBy>Rahul Bunker</cp:lastModifiedBy>
  <cp:revision>2</cp:revision>
  <dcterms:created xsi:type="dcterms:W3CDTF">2026-07-17T08:11:49Z</dcterms:created>
  <dcterms:modified xsi:type="dcterms:W3CDTF">2026-08-20T07:06:59Z</dcterms:modified>
</cp:coreProperties>
</file>